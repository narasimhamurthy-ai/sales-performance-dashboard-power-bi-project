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D:\bobysales\bobbys%20sal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bobysales\bobbys%20sal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bobysales\bobbys%20sale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[bobbys sales.xlsx]Sheet4!PivotTable1</c:name>
    <c:fmtId val="4"/>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Top 10 Products by Sales</a:t>
            </a:r>
          </a:p>
          <a:p>
            <a:pPr>
              <a:defRPr/>
            </a:pPr>
            <a:endParaRPr lang="en-IN" dirty="0"/>
          </a:p>
        </c:rich>
      </c:tx>
      <c:layout>
        <c:manualLayout>
          <c:xMode val="edge"/>
          <c:yMode val="edge"/>
          <c:x val="0.20940966754155729"/>
          <c:y val="0.10185185185185185"/>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rgbClr val="FFFF00"/>
          </a:solidFill>
          <a:ln>
            <a:solidFill>
              <a:srgbClr val="FFFF00"/>
            </a:solidFill>
          </a:ln>
          <a:effectLst>
            <a:outerShdw blurRad="57150" dist="19050" dir="5400000" algn="ctr" rotWithShape="0">
              <a:srgbClr val="000000">
                <a:alpha val="63000"/>
              </a:srgbClr>
            </a:outerShdw>
          </a:effectLst>
        </c:spPr>
        <c:marker>
          <c:symbol val="diamond"/>
          <c:size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pivotFmt>
      <c:pivotFmt>
        <c:idx val="1"/>
        <c:spPr>
          <a:solidFill>
            <a:srgbClr val="FFFF00"/>
          </a:solidFill>
          <a:ln>
            <a:solidFill>
              <a:srgbClr val="FFFF00"/>
            </a:solidFill>
          </a:ln>
          <a:effectLst>
            <a:outerShdw blurRad="57150" dist="19050" dir="5400000" algn="ctr" rotWithShape="0">
              <a:srgbClr val="000000">
                <a:alpha val="63000"/>
              </a:srgbClr>
            </a:outerShdw>
          </a:effectLst>
        </c:spPr>
        <c:marker>
          <c:symbol val="none"/>
        </c:marker>
      </c:pivotFmt>
      <c:pivotFmt>
        <c:idx val="2"/>
        <c:spPr>
          <a:solidFill>
            <a:srgbClr val="FFFF00"/>
          </a:solidFill>
          <a:ln>
            <a:solidFill>
              <a:srgbClr val="FFFF00"/>
            </a:solidFill>
          </a:ln>
          <a:effectLst>
            <a:outerShdw blurRad="57150" dist="19050" dir="5400000" algn="ctr" rotWithShape="0">
              <a:srgbClr val="000000">
                <a:alpha val="63000"/>
              </a:srgbClr>
            </a:outerShdw>
          </a:effectLst>
        </c:spPr>
        <c:marker>
          <c:symbol val="none"/>
        </c:marker>
      </c:pivotFmt>
    </c:pivotFmts>
    <c:plotArea>
      <c:layout/>
      <c:barChart>
        <c:barDir val="bar"/>
        <c:grouping val="clustered"/>
        <c:varyColors val="0"/>
        <c:ser>
          <c:idx val="0"/>
          <c:order val="0"/>
          <c:tx>
            <c:strRef>
              <c:f>Sheet4!$B$3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Sheet4!$A$4:$A$14</c:f>
              <c:strCache>
                <c:ptCount val="10"/>
                <c:pt idx="0">
                  <c:v>Canon imageCLASS 2200 Advanced Copier</c:v>
                </c:pt>
                <c:pt idx="1">
                  <c:v>Fellowes PB500 Electric Punch Plastic Comb Binding Machine with Manual Bind</c:v>
                </c:pt>
                <c:pt idx="2">
                  <c:v>Cisco TelePresence System EX90 Videoconferencing Unit</c:v>
                </c:pt>
                <c:pt idx="3">
                  <c:v>HON 5400 Series Task Chairs for Big and Tall</c:v>
                </c:pt>
                <c:pt idx="4">
                  <c:v>GBC DocuBind TL300 Electric Binding System</c:v>
                </c:pt>
                <c:pt idx="5">
                  <c:v>GBC Ibimaster 500 Manual ProClick Binding System</c:v>
                </c:pt>
                <c:pt idx="6">
                  <c:v>Hewlett Packard LaserJet 3310 Copier</c:v>
                </c:pt>
                <c:pt idx="7">
                  <c:v>HP Designjet T520 Inkjet Large Format Printer - 24" Color</c:v>
                </c:pt>
                <c:pt idx="8">
                  <c:v>GBC DocuBind P400 Electric Binding System</c:v>
                </c:pt>
                <c:pt idx="9">
                  <c:v>High Speed Automatic Electric Letter Opener</c:v>
                </c:pt>
              </c:strCache>
            </c:strRef>
          </c:cat>
          <c:val>
            <c:numRef>
              <c:f>Sheet4!$B$4:$B$14</c:f>
              <c:numCache>
                <c:formatCode>General</c:formatCode>
                <c:ptCount val="10"/>
                <c:pt idx="0">
                  <c:v>61599.824000000001</c:v>
                </c:pt>
                <c:pt idx="1">
                  <c:v>27453.383999999998</c:v>
                </c:pt>
                <c:pt idx="2">
                  <c:v>22638.48</c:v>
                </c:pt>
                <c:pt idx="3">
                  <c:v>21870.576000000001</c:v>
                </c:pt>
                <c:pt idx="4">
                  <c:v>19823.479000000003</c:v>
                </c:pt>
                <c:pt idx="5">
                  <c:v>19024.5</c:v>
                </c:pt>
                <c:pt idx="6">
                  <c:v>18839.686000000002</c:v>
                </c:pt>
                <c:pt idx="7">
                  <c:v>18374.895</c:v>
                </c:pt>
                <c:pt idx="8">
                  <c:v>17965.067999999999</c:v>
                </c:pt>
                <c:pt idx="9">
                  <c:v>17030.311999999998</c:v>
                </c:pt>
              </c:numCache>
            </c:numRef>
          </c:val>
          <c:extLst>
            <c:ext xmlns:c16="http://schemas.microsoft.com/office/drawing/2014/chart" uri="{C3380CC4-5D6E-409C-BE32-E72D297353CC}">
              <c16:uniqueId val="{00000002-5BBC-46F7-AE4B-DCE0D49EEFEE}"/>
            </c:ext>
          </c:extLst>
        </c:ser>
        <c:dLbls>
          <c:showLegendKey val="0"/>
          <c:showVal val="0"/>
          <c:showCatName val="0"/>
          <c:showSerName val="0"/>
          <c:showPercent val="0"/>
          <c:showBubbleSize val="0"/>
        </c:dLbls>
        <c:gapWidth val="115"/>
        <c:overlap val="-20"/>
        <c:axId val="1609658127"/>
        <c:axId val="849234975"/>
      </c:barChart>
      <c:catAx>
        <c:axId val="1609658127"/>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49234975"/>
        <c:crosses val="autoZero"/>
        <c:auto val="1"/>
        <c:lblAlgn val="ctr"/>
        <c:lblOffset val="100"/>
        <c:noMultiLvlLbl val="0"/>
      </c:catAx>
      <c:valAx>
        <c:axId val="849234975"/>
        <c:scaling>
          <c:orientation val="minMax"/>
        </c:scaling>
        <c:delete val="0"/>
        <c:axPos val="b"/>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096581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solidFill>
        <a:schemeClr val="accent4"/>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[bobbys sales.xlsx]Sheet5!PivotTable2</c:name>
    <c:fmtId val="10"/>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sz="1600" b="1" i="0" u="none" strike="noStrike" baseline="0" dirty="0">
                <a:effectLst>
                  <a:outerShdw blurRad="50800" dist="38100" dir="5400000" algn="t" rotWithShape="0">
                    <a:prstClr val="black">
                      <a:alpha val="40000"/>
                    </a:prstClr>
                  </a:outerShdw>
                </a:effectLst>
              </a:rPr>
              <a:t>Distribution by Category</a:t>
            </a:r>
            <a:endParaRPr lang="en-US" dirty="0"/>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pivotFmt>
    </c:pivotFmts>
    <c:plotArea>
      <c:layout/>
      <c:barChart>
        <c:barDir val="col"/>
        <c:grouping val="clustered"/>
        <c:varyColors val="0"/>
        <c:ser>
          <c:idx val="0"/>
          <c:order val="0"/>
          <c:tx>
            <c:strRef>
              <c:f>Sheet5!$B$3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Sheet5!$A$4:$A$7</c:f>
              <c:strCache>
                <c:ptCount val="3"/>
                <c:pt idx="0">
                  <c:v>Furniture</c:v>
                </c:pt>
                <c:pt idx="1">
                  <c:v>Office Supplies</c:v>
                </c:pt>
                <c:pt idx="2">
                  <c:v>Technology</c:v>
                </c:pt>
              </c:strCache>
            </c:strRef>
          </c:cat>
          <c:val>
            <c:numRef>
              <c:f>Sheet5!$B$4:$B$7</c:f>
              <c:numCache>
                <c:formatCode>General</c:formatCode>
                <c:ptCount val="3"/>
                <c:pt idx="0">
                  <c:v>741999.79529999977</c:v>
                </c:pt>
                <c:pt idx="1">
                  <c:v>719047.03200000292</c:v>
                </c:pt>
                <c:pt idx="2">
                  <c:v>836154.03299999656</c:v>
                </c:pt>
              </c:numCache>
            </c:numRef>
          </c:val>
          <c:extLst>
            <c:ext xmlns:c16="http://schemas.microsoft.com/office/drawing/2014/chart" uri="{C3380CC4-5D6E-409C-BE32-E72D297353CC}">
              <c16:uniqueId val="{00000000-FF75-4E4C-8577-6E01820F6263}"/>
            </c:ext>
          </c:extLst>
        </c:ser>
        <c:dLbls>
          <c:showLegendKey val="0"/>
          <c:showVal val="0"/>
          <c:showCatName val="0"/>
          <c:showSerName val="0"/>
          <c:showPercent val="0"/>
          <c:showBubbleSize val="0"/>
        </c:dLbls>
        <c:gapWidth val="100"/>
        <c:overlap val="-24"/>
        <c:axId val="1609658527"/>
        <c:axId val="1616815567"/>
      </c:barChart>
      <c:catAx>
        <c:axId val="160965852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16815567"/>
        <c:crosses val="autoZero"/>
        <c:auto val="1"/>
        <c:lblAlgn val="ctr"/>
        <c:lblOffset val="100"/>
        <c:noMultiLvlLbl val="0"/>
      </c:catAx>
      <c:valAx>
        <c:axId val="161681556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096585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[bobbys sales.xlsx]Sheet6!PivotTable3</c:name>
    <c:fmtId val="7"/>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Region X contributes the highest revenue”</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marker>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s>
    <c:plotArea>
      <c:layout/>
      <c:doughnutChart>
        <c:varyColors val="1"/>
        <c:ser>
          <c:idx val="0"/>
          <c:order val="0"/>
          <c:tx>
            <c:strRef>
              <c:f>Sheet6!$B$3</c:f>
              <c:strCache>
                <c:ptCount val="1"/>
                <c:pt idx="0">
                  <c:v>Total</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98B2-448C-AFBE-F4402F64761B}"/>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98B2-448C-AFBE-F4402F64761B}"/>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98B2-448C-AFBE-F4402F64761B}"/>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98B2-448C-AFBE-F4402F64761B}"/>
              </c:ext>
            </c:extLst>
          </c:dPt>
          <c:cat>
            <c:strRef>
              <c:f>Sheet6!$A$4:$A$8</c:f>
              <c:strCache>
                <c:ptCount val="4"/>
                <c:pt idx="0">
                  <c:v>Central</c:v>
                </c:pt>
                <c:pt idx="1">
                  <c:v>East</c:v>
                </c:pt>
                <c:pt idx="2">
                  <c:v>South</c:v>
                </c:pt>
                <c:pt idx="3">
                  <c:v>West</c:v>
                </c:pt>
              </c:strCache>
            </c:strRef>
          </c:cat>
          <c:val>
            <c:numRef>
              <c:f>Sheet6!$B$4:$B$8</c:f>
              <c:numCache>
                <c:formatCode>General</c:formatCode>
                <c:ptCount val="4"/>
                <c:pt idx="0">
                  <c:v>501239.89080000052</c:v>
                </c:pt>
                <c:pt idx="1">
                  <c:v>678781.2399999979</c:v>
                </c:pt>
                <c:pt idx="2">
                  <c:v>391721.90500000032</c:v>
                </c:pt>
                <c:pt idx="3">
                  <c:v>725457.82450000057</c:v>
                </c:pt>
              </c:numCache>
            </c:numRef>
          </c:val>
          <c:extLst>
            <c:ext xmlns:c16="http://schemas.microsoft.com/office/drawing/2014/chart" uri="{C3380CC4-5D6E-409C-BE32-E72D297353CC}">
              <c16:uniqueId val="{00000008-98B2-448C-AFBE-F4402F64761B}"/>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20DD5-F11B-4CA2-9DC1-83D2239EC6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8F805D-EB22-4424-AF46-26953E79EC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0D473A7-BD1F-4B79-A06F-68D9697D7246}"/>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5" name="Footer Placeholder 4">
            <a:extLst>
              <a:ext uri="{FF2B5EF4-FFF2-40B4-BE49-F238E27FC236}">
                <a16:creationId xmlns:a16="http://schemas.microsoft.com/office/drawing/2014/main" id="{7CEA0787-24DD-4E2A-A51A-11D9FA79E5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284E6F-55F3-43B4-AB2C-B09AAC6C786A}"/>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3603035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56D7C-382E-4B4F-ADB4-E4119AE04B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996536-BA61-46F3-AE54-F1458D5E7BF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E5C8D3-2EB9-460A-89C8-F98C364B0BFE}"/>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5" name="Footer Placeholder 4">
            <a:extLst>
              <a:ext uri="{FF2B5EF4-FFF2-40B4-BE49-F238E27FC236}">
                <a16:creationId xmlns:a16="http://schemas.microsoft.com/office/drawing/2014/main" id="{69092435-1CC3-4A3F-9D8B-B1B9085117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BA8992-B892-472A-AE5D-81FD9E86C06C}"/>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1379445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89BDA-FE60-4671-8417-7E5ACE06AA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E93021-68EF-4A50-823C-7DE6C5EDF3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7A5614A-DB4D-4B06-A5A9-A2E70F06A99D}"/>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5" name="Footer Placeholder 4">
            <a:extLst>
              <a:ext uri="{FF2B5EF4-FFF2-40B4-BE49-F238E27FC236}">
                <a16:creationId xmlns:a16="http://schemas.microsoft.com/office/drawing/2014/main" id="{861A688F-F86D-4A3A-A15C-792383D366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8FE258-2876-4F93-80ED-51CB41CD1345}"/>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3935592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482B4-5E15-4D05-86A3-F479426257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32233C-4C75-46FE-A7E2-625812A5E29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27D4E30-E12F-4AD0-8569-A71727BD697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59479F-B55E-4161-BF52-55870B624ECD}"/>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6" name="Footer Placeholder 5">
            <a:extLst>
              <a:ext uri="{FF2B5EF4-FFF2-40B4-BE49-F238E27FC236}">
                <a16:creationId xmlns:a16="http://schemas.microsoft.com/office/drawing/2014/main" id="{43D6E85C-CF4B-4505-8A7E-22796A6E42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CB3811-E184-42AF-A670-6FC6A4846F26}"/>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1455183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B2D66-ED72-4C58-80B2-5AA0C56AA2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C13E38-27BC-427C-8177-6B15F511F8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16C2B74-AC4C-4AA4-A326-CB490EBAEA2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DB1B1D-93E2-4EB4-8B70-407F5599E6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01C2FAB-E305-43DD-AE93-36F580B1A48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D87FEF-5B96-46AF-9F34-D47E95C0F3FD}"/>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8" name="Footer Placeholder 7">
            <a:extLst>
              <a:ext uri="{FF2B5EF4-FFF2-40B4-BE49-F238E27FC236}">
                <a16:creationId xmlns:a16="http://schemas.microsoft.com/office/drawing/2014/main" id="{C1029C0A-BD7A-485E-B508-DAB656A7AC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A04F24-066C-4EDC-A90B-68EBE5CE0B04}"/>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1787122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FBA92-31FD-4789-8679-CEFB5060AB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63DDD6E-AC19-4C23-99B4-DF45D9FAC039}"/>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4" name="Footer Placeholder 3">
            <a:extLst>
              <a:ext uri="{FF2B5EF4-FFF2-40B4-BE49-F238E27FC236}">
                <a16:creationId xmlns:a16="http://schemas.microsoft.com/office/drawing/2014/main" id="{1D823CF7-32BC-466A-8E0B-98BF1139D5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3BC7E2-4BC0-4299-B03B-2ED74BDD23CC}"/>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410813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860CF3-B504-4BE9-A3E3-F6C835163CD9}"/>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3" name="Footer Placeholder 2">
            <a:extLst>
              <a:ext uri="{FF2B5EF4-FFF2-40B4-BE49-F238E27FC236}">
                <a16:creationId xmlns:a16="http://schemas.microsoft.com/office/drawing/2014/main" id="{65D56171-4B60-4898-A8C1-4E78827D84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45E5F2B-3665-4AF0-9161-8F6BC42750A0}"/>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3081309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2885D-195A-4A6E-B310-CDE07B7E02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F12000-0FF6-4E1F-9793-B797C947C9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2CD77D-8819-43A2-A2B1-9CCC3931A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A4CDF7F-A880-41E5-903E-3455F92AD7A3}"/>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6" name="Footer Placeholder 5">
            <a:extLst>
              <a:ext uri="{FF2B5EF4-FFF2-40B4-BE49-F238E27FC236}">
                <a16:creationId xmlns:a16="http://schemas.microsoft.com/office/drawing/2014/main" id="{7AD6E085-7DE5-4780-83F5-8ED1AEEF76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F93D20-D545-41B7-980D-C79155296F17}"/>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3100857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CE79-1246-4D3F-881E-6C6DB41F39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421FCB-C45C-4847-AE18-566C2BBF8B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C54F1F-9F37-4515-BA62-A59249FC9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6AFE081-B079-45C5-B6D8-37A93268A957}"/>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6" name="Footer Placeholder 5">
            <a:extLst>
              <a:ext uri="{FF2B5EF4-FFF2-40B4-BE49-F238E27FC236}">
                <a16:creationId xmlns:a16="http://schemas.microsoft.com/office/drawing/2014/main" id="{194C9463-7371-4601-BEBA-5A3E9C55DA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5B2187-2CC8-4269-A479-FE857AD3408E}"/>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1379767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BF134-CA74-4D88-A010-9099F8F66F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6E9906-D8CE-4E71-80B8-A5F1CE7100E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A305BC-8404-4FEC-92C3-4F1AF1147B25}"/>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5" name="Footer Placeholder 4">
            <a:extLst>
              <a:ext uri="{FF2B5EF4-FFF2-40B4-BE49-F238E27FC236}">
                <a16:creationId xmlns:a16="http://schemas.microsoft.com/office/drawing/2014/main" id="{FFD476C8-690A-429C-A583-A504491E9C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C0E8C7-925B-4DCA-911B-279A33A45CB0}"/>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2365641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75271B-FE5A-4696-A25D-E0AB9589B6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9190AF-2BAD-47D3-B73C-C6D3678F5E7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51CB7F-EF4D-48EF-8CDC-0EB9CE03F101}"/>
              </a:ext>
            </a:extLst>
          </p:cNvPr>
          <p:cNvSpPr>
            <a:spLocks noGrp="1"/>
          </p:cNvSpPr>
          <p:nvPr>
            <p:ph type="dt" sz="half" idx="10"/>
          </p:nvPr>
        </p:nvSpPr>
        <p:spPr/>
        <p:txBody>
          <a:bodyPr/>
          <a:lstStyle/>
          <a:p>
            <a:fld id="{0C0F0DF8-F55D-4283-9E46-0DA66D1CA753}" type="datetimeFigureOut">
              <a:rPr lang="en-IN" smtClean="0"/>
              <a:t>22-11-2025</a:t>
            </a:fld>
            <a:endParaRPr lang="en-IN"/>
          </a:p>
        </p:txBody>
      </p:sp>
      <p:sp>
        <p:nvSpPr>
          <p:cNvPr id="5" name="Footer Placeholder 4">
            <a:extLst>
              <a:ext uri="{FF2B5EF4-FFF2-40B4-BE49-F238E27FC236}">
                <a16:creationId xmlns:a16="http://schemas.microsoft.com/office/drawing/2014/main" id="{5CE6C23D-343B-4E8F-986B-738B7B71CA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A37E16-2466-4718-82E5-33C53D870DDE}"/>
              </a:ext>
            </a:extLst>
          </p:cNvPr>
          <p:cNvSpPr>
            <a:spLocks noGrp="1"/>
          </p:cNvSpPr>
          <p:nvPr>
            <p:ph type="sldNum" sz="quarter" idx="12"/>
          </p:nvPr>
        </p:nvSpPr>
        <p:spPr/>
        <p:txBody>
          <a:bodyPr/>
          <a:lstStyle/>
          <a:p>
            <a:fld id="{97134DB0-2025-4248-8048-B54E73A72285}" type="slidenum">
              <a:rPr lang="en-IN" smtClean="0"/>
              <a:t>‹#›</a:t>
            </a:fld>
            <a:endParaRPr lang="en-IN"/>
          </a:p>
        </p:txBody>
      </p:sp>
    </p:spTree>
    <p:extLst>
      <p:ext uri="{BB962C8B-B14F-4D97-AF65-F5344CB8AC3E}">
        <p14:creationId xmlns:p14="http://schemas.microsoft.com/office/powerpoint/2010/main" val="2794185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F3B569-657F-432C-8C28-83757CB42E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D3369B-A70A-4D17-B49B-7D9FB16448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C858BC-E265-4980-BE03-4A03C40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0F0DF8-F55D-4283-9E46-0DA66D1CA753}" type="datetimeFigureOut">
              <a:rPr lang="en-IN" smtClean="0"/>
              <a:t>22-11-2025</a:t>
            </a:fld>
            <a:endParaRPr lang="en-IN"/>
          </a:p>
        </p:txBody>
      </p:sp>
      <p:sp>
        <p:nvSpPr>
          <p:cNvPr id="5" name="Footer Placeholder 4">
            <a:extLst>
              <a:ext uri="{FF2B5EF4-FFF2-40B4-BE49-F238E27FC236}">
                <a16:creationId xmlns:a16="http://schemas.microsoft.com/office/drawing/2014/main" id="{A0018318-2A76-4528-9BE0-88212F58BB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17F75B-C159-4B30-9E0D-194233128C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134DB0-2025-4248-8048-B54E73A72285}" type="slidenum">
              <a:rPr lang="en-IN" smtClean="0"/>
              <a:t>‹#›</a:t>
            </a:fld>
            <a:endParaRPr lang="en-IN"/>
          </a:p>
        </p:txBody>
      </p:sp>
    </p:spTree>
    <p:extLst>
      <p:ext uri="{BB962C8B-B14F-4D97-AF65-F5344CB8AC3E}">
        <p14:creationId xmlns:p14="http://schemas.microsoft.com/office/powerpoint/2010/main" val="2866307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956B-6E7A-4605-B324-56574DC598BA}"/>
              </a:ext>
            </a:extLst>
          </p:cNvPr>
          <p:cNvSpPr>
            <a:spLocks noGrp="1"/>
          </p:cNvSpPr>
          <p:nvPr>
            <p:ph type="ctrTitle"/>
          </p:nvPr>
        </p:nvSpPr>
        <p:spPr>
          <a:xfrm>
            <a:off x="1523999" y="1122363"/>
            <a:ext cx="9143999" cy="1907708"/>
          </a:xfrm>
        </p:spPr>
        <p:txBody>
          <a:bodyPr>
            <a:normAutofit/>
          </a:bodyPr>
          <a:lstStyle/>
          <a:p>
            <a:r>
              <a:rPr lang="en-IN" sz="6600" b="1" dirty="0"/>
              <a:t>Sales Performance Analysis </a:t>
            </a:r>
          </a:p>
        </p:txBody>
      </p:sp>
      <p:sp>
        <p:nvSpPr>
          <p:cNvPr id="3" name="Subtitle 2">
            <a:extLst>
              <a:ext uri="{FF2B5EF4-FFF2-40B4-BE49-F238E27FC236}">
                <a16:creationId xmlns:a16="http://schemas.microsoft.com/office/drawing/2014/main" id="{C15A1D92-41B5-4ADB-92E4-1A899079321A}"/>
              </a:ext>
            </a:extLst>
          </p:cNvPr>
          <p:cNvSpPr>
            <a:spLocks noGrp="1"/>
          </p:cNvSpPr>
          <p:nvPr>
            <p:ph type="subTitle" idx="1"/>
          </p:nvPr>
        </p:nvSpPr>
        <p:spPr>
          <a:xfrm>
            <a:off x="1523998" y="3207591"/>
            <a:ext cx="9144000" cy="1655762"/>
          </a:xfrm>
        </p:spPr>
        <p:txBody>
          <a:bodyPr/>
          <a:lstStyle/>
          <a:p>
            <a:r>
              <a:rPr lang="en-US" dirty="0"/>
              <a:t>Dashboard Analysis using Excel &amp; Power BI”</a:t>
            </a:r>
            <a:endParaRPr lang="en-IN" dirty="0"/>
          </a:p>
        </p:txBody>
      </p:sp>
    </p:spTree>
    <p:extLst>
      <p:ext uri="{BB962C8B-B14F-4D97-AF65-F5344CB8AC3E}">
        <p14:creationId xmlns:p14="http://schemas.microsoft.com/office/powerpoint/2010/main" val="960292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8AA1-2072-4D9C-9B45-A8A73726C69A}"/>
              </a:ext>
            </a:extLst>
          </p:cNvPr>
          <p:cNvSpPr>
            <a:spLocks noGrp="1"/>
          </p:cNvSpPr>
          <p:nvPr>
            <p:ph type="ctrTitle"/>
          </p:nvPr>
        </p:nvSpPr>
        <p:spPr>
          <a:xfrm>
            <a:off x="1523999" y="1122363"/>
            <a:ext cx="9233647" cy="4731590"/>
          </a:xfrm>
        </p:spPr>
        <p:txBody>
          <a:bodyPr>
            <a:normAutofit/>
          </a:bodyPr>
          <a:lstStyle/>
          <a:p>
            <a:r>
              <a:rPr lang="en-US" sz="4400" dirty="0"/>
              <a:t>“The objective of this project is to analyze </a:t>
            </a:r>
            <a:r>
              <a:rPr lang="en-US" sz="4400" b="1" dirty="0"/>
              <a:t>Sales Performance</a:t>
            </a:r>
            <a:r>
              <a:rPr lang="en-US" sz="4400" dirty="0"/>
              <a:t>  data, identify key performance metrics, create interactive dashboards, and present insights that help understand product performance, revenue trends, and customer demand.”</a:t>
            </a:r>
            <a:endParaRPr lang="en-IN" sz="4400" dirty="0"/>
          </a:p>
        </p:txBody>
      </p:sp>
      <p:sp>
        <p:nvSpPr>
          <p:cNvPr id="4" name="Title 1">
            <a:extLst>
              <a:ext uri="{FF2B5EF4-FFF2-40B4-BE49-F238E27FC236}">
                <a16:creationId xmlns:a16="http://schemas.microsoft.com/office/drawing/2014/main" id="{942E47EE-5EB8-4F4E-99E4-675C6AEA7217}"/>
              </a:ext>
            </a:extLst>
          </p:cNvPr>
          <p:cNvSpPr txBox="1">
            <a:spLocks/>
          </p:cNvSpPr>
          <p:nvPr/>
        </p:nvSpPr>
        <p:spPr>
          <a:xfrm>
            <a:off x="3030071" y="207962"/>
            <a:ext cx="5907742" cy="118156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400" b="1" u="sng" dirty="0"/>
              <a:t>PROBLEM STATEMENT</a:t>
            </a:r>
          </a:p>
        </p:txBody>
      </p:sp>
    </p:spTree>
    <p:extLst>
      <p:ext uri="{BB962C8B-B14F-4D97-AF65-F5344CB8AC3E}">
        <p14:creationId xmlns:p14="http://schemas.microsoft.com/office/powerpoint/2010/main" val="3087411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8AA1-2072-4D9C-9B45-A8A73726C69A}"/>
              </a:ext>
            </a:extLst>
          </p:cNvPr>
          <p:cNvSpPr>
            <a:spLocks noGrp="1"/>
          </p:cNvSpPr>
          <p:nvPr>
            <p:ph type="ctrTitle"/>
          </p:nvPr>
        </p:nvSpPr>
        <p:spPr>
          <a:xfrm>
            <a:off x="1524000" y="1122363"/>
            <a:ext cx="9144000" cy="1244319"/>
          </a:xfrm>
        </p:spPr>
        <p:txBody>
          <a:bodyPr/>
          <a:lstStyle/>
          <a:p>
            <a:r>
              <a:rPr lang="en-IN" b="1" u="sng" dirty="0"/>
              <a:t>DATASET OVERVIEW</a:t>
            </a:r>
          </a:p>
        </p:txBody>
      </p:sp>
      <p:graphicFrame>
        <p:nvGraphicFramePr>
          <p:cNvPr id="6" name="Table 5">
            <a:extLst>
              <a:ext uri="{FF2B5EF4-FFF2-40B4-BE49-F238E27FC236}">
                <a16:creationId xmlns:a16="http://schemas.microsoft.com/office/drawing/2014/main" id="{C1FDA23A-620B-4AC6-BD59-6E9336242EA1}"/>
              </a:ext>
            </a:extLst>
          </p:cNvPr>
          <p:cNvGraphicFramePr>
            <a:graphicFrameLocks noGrp="1"/>
          </p:cNvGraphicFramePr>
          <p:nvPr>
            <p:extLst>
              <p:ext uri="{D42A27DB-BD31-4B8C-83A1-F6EECF244321}">
                <p14:modId xmlns:p14="http://schemas.microsoft.com/office/powerpoint/2010/main" val="4057030978"/>
              </p:ext>
            </p:extLst>
          </p:nvPr>
        </p:nvGraphicFramePr>
        <p:xfrm>
          <a:off x="2184400" y="2499677"/>
          <a:ext cx="8128000" cy="32359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830290811"/>
                    </a:ext>
                  </a:extLst>
                </a:gridCol>
                <a:gridCol w="4064000">
                  <a:extLst>
                    <a:ext uri="{9D8B030D-6E8A-4147-A177-3AD203B41FA5}">
                      <a16:colId xmlns:a16="http://schemas.microsoft.com/office/drawing/2014/main" val="2099142412"/>
                    </a:ext>
                  </a:extLst>
                </a:gridCol>
              </a:tblGrid>
              <a:tr h="370840">
                <a:tc>
                  <a:txBody>
                    <a:bodyPr/>
                    <a:lstStyle/>
                    <a:p>
                      <a:r>
                        <a:rPr lang="en-IN" b="1" dirty="0"/>
                        <a:t>Column Name</a:t>
                      </a:r>
                      <a:endParaRPr lang="en-IN" dirty="0"/>
                    </a:p>
                  </a:txBody>
                  <a:tcPr anchor="ctr"/>
                </a:tc>
                <a:tc>
                  <a:txBody>
                    <a:bodyPr/>
                    <a:lstStyle/>
                    <a:p>
                      <a:r>
                        <a:rPr lang="en-IN" b="1"/>
                        <a:t>Description</a:t>
                      </a:r>
                      <a:endParaRPr lang="en-IN"/>
                    </a:p>
                  </a:txBody>
                  <a:tcPr anchor="ctr"/>
                </a:tc>
                <a:extLst>
                  <a:ext uri="{0D108BD9-81ED-4DB2-BD59-A6C34878D82A}">
                    <a16:rowId xmlns:a16="http://schemas.microsoft.com/office/drawing/2014/main" val="2955079040"/>
                  </a:ext>
                </a:extLst>
              </a:tr>
              <a:tr h="370840">
                <a:tc>
                  <a:txBody>
                    <a:bodyPr/>
                    <a:lstStyle/>
                    <a:p>
                      <a:r>
                        <a:rPr lang="en-IN"/>
                        <a:t>Date</a:t>
                      </a:r>
                    </a:p>
                  </a:txBody>
                  <a:tcPr anchor="ctr"/>
                </a:tc>
                <a:tc>
                  <a:txBody>
                    <a:bodyPr/>
                    <a:lstStyle/>
                    <a:p>
                      <a:r>
                        <a:rPr lang="en-IN"/>
                        <a:t>Transaction date of sale</a:t>
                      </a:r>
                    </a:p>
                  </a:txBody>
                  <a:tcPr anchor="ctr"/>
                </a:tc>
                <a:extLst>
                  <a:ext uri="{0D108BD9-81ED-4DB2-BD59-A6C34878D82A}">
                    <a16:rowId xmlns:a16="http://schemas.microsoft.com/office/drawing/2014/main" val="1020596627"/>
                  </a:ext>
                </a:extLst>
              </a:tr>
              <a:tr h="370840">
                <a:tc>
                  <a:txBody>
                    <a:bodyPr/>
                    <a:lstStyle/>
                    <a:p>
                      <a:r>
                        <a:rPr lang="en-IN"/>
                        <a:t>Product</a:t>
                      </a:r>
                    </a:p>
                  </a:txBody>
                  <a:tcPr anchor="ctr"/>
                </a:tc>
                <a:tc>
                  <a:txBody>
                    <a:bodyPr/>
                    <a:lstStyle/>
                    <a:p>
                      <a:r>
                        <a:rPr lang="en-US"/>
                        <a:t>Name of the product sold</a:t>
                      </a:r>
                    </a:p>
                  </a:txBody>
                  <a:tcPr anchor="ctr"/>
                </a:tc>
                <a:extLst>
                  <a:ext uri="{0D108BD9-81ED-4DB2-BD59-A6C34878D82A}">
                    <a16:rowId xmlns:a16="http://schemas.microsoft.com/office/drawing/2014/main" val="4159167179"/>
                  </a:ext>
                </a:extLst>
              </a:tr>
              <a:tr h="370840">
                <a:tc>
                  <a:txBody>
                    <a:bodyPr/>
                    <a:lstStyle/>
                    <a:p>
                      <a:r>
                        <a:rPr lang="en-IN"/>
                        <a:t>Category</a:t>
                      </a:r>
                    </a:p>
                  </a:txBody>
                  <a:tcPr anchor="ctr"/>
                </a:tc>
                <a:tc>
                  <a:txBody>
                    <a:bodyPr/>
                    <a:lstStyle/>
                    <a:p>
                      <a:r>
                        <a:rPr lang="en-IN"/>
                        <a:t>Product group / classification</a:t>
                      </a:r>
                    </a:p>
                  </a:txBody>
                  <a:tcPr anchor="ctr"/>
                </a:tc>
                <a:extLst>
                  <a:ext uri="{0D108BD9-81ED-4DB2-BD59-A6C34878D82A}">
                    <a16:rowId xmlns:a16="http://schemas.microsoft.com/office/drawing/2014/main" val="1425883052"/>
                  </a:ext>
                </a:extLst>
              </a:tr>
              <a:tr h="370840">
                <a:tc>
                  <a:txBody>
                    <a:bodyPr/>
                    <a:lstStyle/>
                    <a:p>
                      <a:r>
                        <a:rPr lang="en-IN"/>
                        <a:t>Quantity</a:t>
                      </a:r>
                    </a:p>
                  </a:txBody>
                  <a:tcPr anchor="ctr"/>
                </a:tc>
                <a:tc>
                  <a:txBody>
                    <a:bodyPr/>
                    <a:lstStyle/>
                    <a:p>
                      <a:r>
                        <a:rPr lang="en-IN"/>
                        <a:t>Number of units sold</a:t>
                      </a:r>
                    </a:p>
                  </a:txBody>
                  <a:tcPr anchor="ctr"/>
                </a:tc>
                <a:extLst>
                  <a:ext uri="{0D108BD9-81ED-4DB2-BD59-A6C34878D82A}">
                    <a16:rowId xmlns:a16="http://schemas.microsoft.com/office/drawing/2014/main" val="3664879190"/>
                  </a:ext>
                </a:extLst>
              </a:tr>
              <a:tr h="370840">
                <a:tc>
                  <a:txBody>
                    <a:bodyPr/>
                    <a:lstStyle/>
                    <a:p>
                      <a:r>
                        <a:rPr lang="en-IN"/>
                        <a:t>Sales</a:t>
                      </a:r>
                    </a:p>
                  </a:txBody>
                  <a:tcPr anchor="ctr"/>
                </a:tc>
                <a:tc>
                  <a:txBody>
                    <a:bodyPr/>
                    <a:lstStyle/>
                    <a:p>
                      <a:r>
                        <a:rPr lang="en-IN"/>
                        <a:t>Total revenue generated</a:t>
                      </a:r>
                    </a:p>
                  </a:txBody>
                  <a:tcPr anchor="ctr"/>
                </a:tc>
                <a:extLst>
                  <a:ext uri="{0D108BD9-81ED-4DB2-BD59-A6C34878D82A}">
                    <a16:rowId xmlns:a16="http://schemas.microsoft.com/office/drawing/2014/main" val="1755755421"/>
                  </a:ext>
                </a:extLst>
              </a:tr>
              <a:tr h="370840">
                <a:tc>
                  <a:txBody>
                    <a:bodyPr/>
                    <a:lstStyle/>
                    <a:p>
                      <a:r>
                        <a:rPr lang="en-IN"/>
                        <a:t>Profit</a:t>
                      </a:r>
                    </a:p>
                  </a:txBody>
                  <a:tcPr anchor="ctr"/>
                </a:tc>
                <a:tc>
                  <a:txBody>
                    <a:bodyPr/>
                    <a:lstStyle/>
                    <a:p>
                      <a:r>
                        <a:rPr lang="en-US" dirty="0"/>
                        <a:t>Margin earned from sale (if available)</a:t>
                      </a:r>
                    </a:p>
                  </a:txBody>
                  <a:tcPr anchor="ctr"/>
                </a:tc>
                <a:extLst>
                  <a:ext uri="{0D108BD9-81ED-4DB2-BD59-A6C34878D82A}">
                    <a16:rowId xmlns:a16="http://schemas.microsoft.com/office/drawing/2014/main" val="51527590"/>
                  </a:ext>
                </a:extLst>
              </a:tr>
              <a:tr h="370840">
                <a:tc>
                  <a:txBody>
                    <a:bodyPr/>
                    <a:lstStyle/>
                    <a:p>
                      <a:r>
                        <a:rPr lang="en-IN" dirty="0"/>
                        <a:t>Region</a:t>
                      </a:r>
                    </a:p>
                  </a:txBody>
                  <a:tcPr anchor="ctr"/>
                </a:tc>
                <a:tc>
                  <a:txBody>
                    <a:bodyPr/>
                    <a:lstStyle/>
                    <a:p>
                      <a:r>
                        <a:rPr lang="en-US" dirty="0"/>
                        <a:t>sales performance across different locations.</a:t>
                      </a:r>
                    </a:p>
                  </a:txBody>
                  <a:tcPr anchor="ctr"/>
                </a:tc>
                <a:extLst>
                  <a:ext uri="{0D108BD9-81ED-4DB2-BD59-A6C34878D82A}">
                    <a16:rowId xmlns:a16="http://schemas.microsoft.com/office/drawing/2014/main" val="1849282037"/>
                  </a:ext>
                </a:extLst>
              </a:tr>
            </a:tbl>
          </a:graphicData>
        </a:graphic>
      </p:graphicFrame>
    </p:spTree>
    <p:extLst>
      <p:ext uri="{BB962C8B-B14F-4D97-AF65-F5344CB8AC3E}">
        <p14:creationId xmlns:p14="http://schemas.microsoft.com/office/powerpoint/2010/main" val="406349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8AA1-2072-4D9C-9B45-A8A73726C69A}"/>
              </a:ext>
            </a:extLst>
          </p:cNvPr>
          <p:cNvSpPr>
            <a:spLocks noGrp="1"/>
          </p:cNvSpPr>
          <p:nvPr>
            <p:ph type="ctrTitle"/>
          </p:nvPr>
        </p:nvSpPr>
        <p:spPr>
          <a:xfrm>
            <a:off x="1524000" y="1122363"/>
            <a:ext cx="9144000" cy="1145708"/>
          </a:xfrm>
        </p:spPr>
        <p:txBody>
          <a:bodyPr/>
          <a:lstStyle/>
          <a:p>
            <a:r>
              <a:rPr lang="en-IN" b="1" u="sng" dirty="0"/>
              <a:t>DATA CLEANING SUMMARY</a:t>
            </a:r>
          </a:p>
        </p:txBody>
      </p:sp>
      <p:sp>
        <p:nvSpPr>
          <p:cNvPr id="4" name="Rectangle 1">
            <a:extLst>
              <a:ext uri="{FF2B5EF4-FFF2-40B4-BE49-F238E27FC236}">
                <a16:creationId xmlns:a16="http://schemas.microsoft.com/office/drawing/2014/main" id="{1BB7DDFE-A89E-44B5-A8E7-92656FB92681}"/>
              </a:ext>
            </a:extLst>
          </p:cNvPr>
          <p:cNvSpPr>
            <a:spLocks noGrp="1" noChangeArrowheads="1"/>
          </p:cNvSpPr>
          <p:nvPr>
            <p:ph type="subTitle" idx="1"/>
          </p:nvPr>
        </p:nvSpPr>
        <p:spPr bwMode="auto">
          <a:xfrm>
            <a:off x="2886636" y="2742732"/>
            <a:ext cx="625736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Removed duplicates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Removed null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Fixed date formats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Standardized category names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Computed new fields (if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Total Sales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Profit Margin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Sales per 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Verified data types for Sales, Quantity, Profit</a:t>
            </a:r>
          </a:p>
        </p:txBody>
      </p:sp>
    </p:spTree>
    <p:extLst>
      <p:ext uri="{BB962C8B-B14F-4D97-AF65-F5344CB8AC3E}">
        <p14:creationId xmlns:p14="http://schemas.microsoft.com/office/powerpoint/2010/main" val="1571675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8AA1-2072-4D9C-9B45-A8A73726C69A}"/>
              </a:ext>
            </a:extLst>
          </p:cNvPr>
          <p:cNvSpPr>
            <a:spLocks noGrp="1"/>
          </p:cNvSpPr>
          <p:nvPr>
            <p:ph type="ctrTitle"/>
          </p:nvPr>
        </p:nvSpPr>
        <p:spPr>
          <a:xfrm>
            <a:off x="1524000" y="208998"/>
            <a:ext cx="9144000" cy="1056061"/>
          </a:xfrm>
        </p:spPr>
        <p:txBody>
          <a:bodyPr/>
          <a:lstStyle/>
          <a:p>
            <a:r>
              <a:rPr lang="en-IN" b="1" u="sng" dirty="0"/>
              <a:t>KPI SUMMARY</a:t>
            </a:r>
          </a:p>
        </p:txBody>
      </p:sp>
      <p:sp>
        <p:nvSpPr>
          <p:cNvPr id="4" name="Rectangle 1">
            <a:extLst>
              <a:ext uri="{FF2B5EF4-FFF2-40B4-BE49-F238E27FC236}">
                <a16:creationId xmlns:a16="http://schemas.microsoft.com/office/drawing/2014/main" id="{04B1B4DC-53EC-4254-82F3-8907F0366112}"/>
              </a:ext>
            </a:extLst>
          </p:cNvPr>
          <p:cNvSpPr>
            <a:spLocks noChangeArrowheads="1"/>
          </p:cNvSpPr>
          <p:nvPr/>
        </p:nvSpPr>
        <p:spPr bwMode="auto">
          <a:xfrm>
            <a:off x="1863965" y="1286228"/>
            <a:ext cx="637065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Total Sales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Total revenue generated from all sales transactions within the selected period.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This KPI represents overall business performance and income.</a:t>
            </a:r>
          </a:p>
        </p:txBody>
      </p:sp>
      <p:sp>
        <p:nvSpPr>
          <p:cNvPr id="7" name="Rectangle 2">
            <a:extLst>
              <a:ext uri="{FF2B5EF4-FFF2-40B4-BE49-F238E27FC236}">
                <a16:creationId xmlns:a16="http://schemas.microsoft.com/office/drawing/2014/main" id="{0AD38A73-9968-4200-8BB0-63C28EE312EC}"/>
              </a:ext>
            </a:extLst>
          </p:cNvPr>
          <p:cNvSpPr>
            <a:spLocks noChangeArrowheads="1"/>
          </p:cNvSpPr>
          <p:nvPr/>
        </p:nvSpPr>
        <p:spPr bwMode="auto">
          <a:xfrm>
            <a:off x="1863964" y="2261504"/>
            <a:ext cx="637065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sz="1400" b="1" dirty="0"/>
              <a:t>Total Orders</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Total revenue generated from all sales transactions within the selected period.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This KPI represents overall business performance and income.</a:t>
            </a:r>
          </a:p>
        </p:txBody>
      </p:sp>
      <p:sp>
        <p:nvSpPr>
          <p:cNvPr id="10" name="Rectangle 5">
            <a:extLst>
              <a:ext uri="{FF2B5EF4-FFF2-40B4-BE49-F238E27FC236}">
                <a16:creationId xmlns:a16="http://schemas.microsoft.com/office/drawing/2014/main" id="{E915798D-5615-40FD-A6D3-36970BD62CB2}"/>
              </a:ext>
            </a:extLst>
          </p:cNvPr>
          <p:cNvSpPr>
            <a:spLocks noChangeArrowheads="1"/>
          </p:cNvSpPr>
          <p:nvPr/>
        </p:nvSpPr>
        <p:spPr bwMode="auto">
          <a:xfrm>
            <a:off x="1863963" y="3257949"/>
            <a:ext cx="637065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sz="1400" b="1" dirty="0"/>
              <a:t>Sales YTD (Year-To-Date Sales)</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Total revenue generated from all sales transactions within the selected period.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This KPI represents overall business performance and income.</a:t>
            </a:r>
          </a:p>
        </p:txBody>
      </p:sp>
      <p:sp>
        <p:nvSpPr>
          <p:cNvPr id="11" name="Rectangle 6">
            <a:extLst>
              <a:ext uri="{FF2B5EF4-FFF2-40B4-BE49-F238E27FC236}">
                <a16:creationId xmlns:a16="http://schemas.microsoft.com/office/drawing/2014/main" id="{F76839B7-73C6-4491-A78F-DE2464C0BEA0}"/>
              </a:ext>
            </a:extLst>
          </p:cNvPr>
          <p:cNvSpPr>
            <a:spLocks noChangeArrowheads="1"/>
          </p:cNvSpPr>
          <p:nvPr/>
        </p:nvSpPr>
        <p:spPr bwMode="auto">
          <a:xfrm>
            <a:off x="1863962" y="4438976"/>
            <a:ext cx="637065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sz="1400" b="1" dirty="0"/>
              <a:t>Total Profit</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Total revenue generated from all sales transactions within the selected period.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This KPI represents overall business performance and income.</a:t>
            </a:r>
          </a:p>
        </p:txBody>
      </p:sp>
      <p:pic>
        <p:nvPicPr>
          <p:cNvPr id="13" name="Picture 12">
            <a:extLst>
              <a:ext uri="{FF2B5EF4-FFF2-40B4-BE49-F238E27FC236}">
                <a16:creationId xmlns:a16="http://schemas.microsoft.com/office/drawing/2014/main" id="{DD16CA2B-0BB7-4EFA-A4EF-E4335FC0B2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8919" y="5620003"/>
            <a:ext cx="8474161" cy="756863"/>
          </a:xfrm>
          <a:prstGeom prst="rect">
            <a:avLst/>
          </a:prstGeom>
        </p:spPr>
      </p:pic>
    </p:spTree>
    <p:extLst>
      <p:ext uri="{BB962C8B-B14F-4D97-AF65-F5344CB8AC3E}">
        <p14:creationId xmlns:p14="http://schemas.microsoft.com/office/powerpoint/2010/main" val="2550881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8AA1-2072-4D9C-9B45-A8A73726C69A}"/>
              </a:ext>
            </a:extLst>
          </p:cNvPr>
          <p:cNvSpPr>
            <a:spLocks noGrp="1"/>
          </p:cNvSpPr>
          <p:nvPr>
            <p:ph type="ctrTitle"/>
          </p:nvPr>
        </p:nvSpPr>
        <p:spPr>
          <a:xfrm>
            <a:off x="1398494" y="611375"/>
            <a:ext cx="9144000" cy="1100884"/>
          </a:xfrm>
        </p:spPr>
        <p:txBody>
          <a:bodyPr/>
          <a:lstStyle/>
          <a:p>
            <a:r>
              <a:rPr lang="en-IN" b="1" u="sng" dirty="0"/>
              <a:t>MONTHLY SALES TREND</a:t>
            </a:r>
          </a:p>
        </p:txBody>
      </p:sp>
      <p:pic>
        <p:nvPicPr>
          <p:cNvPr id="5" name="Picture 4">
            <a:extLst>
              <a:ext uri="{FF2B5EF4-FFF2-40B4-BE49-F238E27FC236}">
                <a16:creationId xmlns:a16="http://schemas.microsoft.com/office/drawing/2014/main" id="{4F5438A7-F375-4065-A63D-D4AEAB590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452" y="1827870"/>
            <a:ext cx="7406083" cy="4418755"/>
          </a:xfrm>
          <a:prstGeom prst="rect">
            <a:avLst/>
          </a:prstGeom>
        </p:spPr>
      </p:pic>
    </p:spTree>
    <p:extLst>
      <p:ext uri="{BB962C8B-B14F-4D97-AF65-F5344CB8AC3E}">
        <p14:creationId xmlns:p14="http://schemas.microsoft.com/office/powerpoint/2010/main" val="2147261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8AA1-2072-4D9C-9B45-A8A73726C69A}"/>
              </a:ext>
            </a:extLst>
          </p:cNvPr>
          <p:cNvSpPr>
            <a:spLocks noGrp="1"/>
          </p:cNvSpPr>
          <p:nvPr>
            <p:ph type="ctrTitle"/>
          </p:nvPr>
        </p:nvSpPr>
        <p:spPr>
          <a:xfrm>
            <a:off x="-874059" y="423115"/>
            <a:ext cx="13940117" cy="1441543"/>
          </a:xfrm>
        </p:spPr>
        <p:txBody>
          <a:bodyPr>
            <a:normAutofit fontScale="90000"/>
          </a:bodyPr>
          <a:lstStyle/>
          <a:p>
            <a:r>
              <a:rPr lang="en-IN" b="1" u="sng" dirty="0"/>
              <a:t>TOP 10 HIGH-PERFORMING PRODUCTS</a:t>
            </a:r>
            <a:br>
              <a:rPr lang="en-IN" u="sng" dirty="0"/>
            </a:br>
            <a:endParaRPr lang="en-IN" u="sng" dirty="0"/>
          </a:p>
        </p:txBody>
      </p:sp>
      <p:graphicFrame>
        <p:nvGraphicFramePr>
          <p:cNvPr id="4" name="Chart 3">
            <a:extLst>
              <a:ext uri="{FF2B5EF4-FFF2-40B4-BE49-F238E27FC236}">
                <a16:creationId xmlns:a16="http://schemas.microsoft.com/office/drawing/2014/main" id="{59D90C11-1160-41F6-B522-BE22CCB670C6}"/>
              </a:ext>
            </a:extLst>
          </p:cNvPr>
          <p:cNvGraphicFramePr>
            <a:graphicFrameLocks/>
          </p:cNvGraphicFramePr>
          <p:nvPr>
            <p:extLst>
              <p:ext uri="{D42A27DB-BD31-4B8C-83A1-F6EECF244321}">
                <p14:modId xmlns:p14="http://schemas.microsoft.com/office/powerpoint/2010/main" val="3286402925"/>
              </p:ext>
            </p:extLst>
          </p:nvPr>
        </p:nvGraphicFramePr>
        <p:xfrm>
          <a:off x="1730187" y="1559860"/>
          <a:ext cx="8023413" cy="45899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14912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8AA1-2072-4D9C-9B45-A8A73726C69A}"/>
              </a:ext>
            </a:extLst>
          </p:cNvPr>
          <p:cNvSpPr>
            <a:spLocks noGrp="1"/>
          </p:cNvSpPr>
          <p:nvPr>
            <p:ph type="ctrTitle"/>
          </p:nvPr>
        </p:nvSpPr>
        <p:spPr>
          <a:xfrm>
            <a:off x="1353670" y="692057"/>
            <a:ext cx="9144000" cy="849872"/>
          </a:xfrm>
        </p:spPr>
        <p:txBody>
          <a:bodyPr>
            <a:normAutofit fontScale="90000"/>
          </a:bodyPr>
          <a:lstStyle/>
          <a:p>
            <a:r>
              <a:rPr lang="en-IN" b="1" u="sng" dirty="0"/>
              <a:t>SALES BY CATEGORY</a:t>
            </a:r>
          </a:p>
        </p:txBody>
      </p:sp>
      <p:graphicFrame>
        <p:nvGraphicFramePr>
          <p:cNvPr id="9" name="Chart 8">
            <a:extLst>
              <a:ext uri="{FF2B5EF4-FFF2-40B4-BE49-F238E27FC236}">
                <a16:creationId xmlns:a16="http://schemas.microsoft.com/office/drawing/2014/main" id="{ED65A048-A5E8-4A78-8747-EB3C6894F2A4}"/>
              </a:ext>
            </a:extLst>
          </p:cNvPr>
          <p:cNvGraphicFramePr>
            <a:graphicFrameLocks/>
          </p:cNvGraphicFramePr>
          <p:nvPr>
            <p:extLst>
              <p:ext uri="{D42A27DB-BD31-4B8C-83A1-F6EECF244321}">
                <p14:modId xmlns:p14="http://schemas.microsoft.com/office/powerpoint/2010/main" val="1839482939"/>
              </p:ext>
            </p:extLst>
          </p:nvPr>
        </p:nvGraphicFramePr>
        <p:xfrm>
          <a:off x="3105150" y="1619250"/>
          <a:ext cx="6858000" cy="4953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07139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8AA1-2072-4D9C-9B45-A8A73726C69A}"/>
              </a:ext>
            </a:extLst>
          </p:cNvPr>
          <p:cNvSpPr>
            <a:spLocks noGrp="1"/>
          </p:cNvSpPr>
          <p:nvPr>
            <p:ph type="ctrTitle"/>
          </p:nvPr>
        </p:nvSpPr>
        <p:spPr>
          <a:xfrm>
            <a:off x="1434353" y="406120"/>
            <a:ext cx="9144000" cy="939519"/>
          </a:xfrm>
        </p:spPr>
        <p:txBody>
          <a:bodyPr/>
          <a:lstStyle/>
          <a:p>
            <a:r>
              <a:rPr lang="en-IN" b="1" u="sng" dirty="0"/>
              <a:t>SALES BY REGION</a:t>
            </a:r>
          </a:p>
        </p:txBody>
      </p:sp>
      <p:graphicFrame>
        <p:nvGraphicFramePr>
          <p:cNvPr id="5" name="Chart 4">
            <a:extLst>
              <a:ext uri="{FF2B5EF4-FFF2-40B4-BE49-F238E27FC236}">
                <a16:creationId xmlns:a16="http://schemas.microsoft.com/office/drawing/2014/main" id="{047BD6B4-CA8A-4ED8-9837-4E0FA320CE11}"/>
              </a:ext>
            </a:extLst>
          </p:cNvPr>
          <p:cNvGraphicFramePr>
            <a:graphicFrameLocks/>
          </p:cNvGraphicFramePr>
          <p:nvPr>
            <p:extLst>
              <p:ext uri="{D42A27DB-BD31-4B8C-83A1-F6EECF244321}">
                <p14:modId xmlns:p14="http://schemas.microsoft.com/office/powerpoint/2010/main" val="2105269227"/>
              </p:ext>
            </p:extLst>
          </p:nvPr>
        </p:nvGraphicFramePr>
        <p:xfrm>
          <a:off x="2415428" y="1345639"/>
          <a:ext cx="7181850" cy="43243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89005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6FDF3-E4A3-4D4A-8383-FC502EABC711}"/>
              </a:ext>
            </a:extLst>
          </p:cNvPr>
          <p:cNvSpPr>
            <a:spLocks noGrp="1"/>
          </p:cNvSpPr>
          <p:nvPr>
            <p:ph type="ctrTitle"/>
          </p:nvPr>
        </p:nvSpPr>
        <p:spPr>
          <a:xfrm>
            <a:off x="1524000" y="539657"/>
            <a:ext cx="9144000" cy="876766"/>
          </a:xfrm>
        </p:spPr>
        <p:txBody>
          <a:bodyPr>
            <a:normAutofit fontScale="90000"/>
          </a:bodyPr>
          <a:lstStyle/>
          <a:p>
            <a:r>
              <a:rPr lang="en-US" sz="4000" b="1" u="sng" dirty="0"/>
              <a:t>DASHBOARD BLUEPRINT (POWER BI LAYOUT)</a:t>
            </a:r>
            <a:endParaRPr lang="en-IN" sz="4000" b="1" u="sng" dirty="0"/>
          </a:p>
        </p:txBody>
      </p:sp>
      <p:graphicFrame>
        <p:nvGraphicFramePr>
          <p:cNvPr id="5" name="Table 4">
            <a:extLst>
              <a:ext uri="{FF2B5EF4-FFF2-40B4-BE49-F238E27FC236}">
                <a16:creationId xmlns:a16="http://schemas.microsoft.com/office/drawing/2014/main" id="{337CC1BA-E596-4864-8EFF-62B89CF596E9}"/>
              </a:ext>
            </a:extLst>
          </p:cNvPr>
          <p:cNvGraphicFramePr>
            <a:graphicFrameLocks noGrp="1"/>
          </p:cNvGraphicFramePr>
          <p:nvPr>
            <p:extLst>
              <p:ext uri="{D42A27DB-BD31-4B8C-83A1-F6EECF244321}">
                <p14:modId xmlns:p14="http://schemas.microsoft.com/office/powerpoint/2010/main" val="2373415387"/>
              </p:ext>
            </p:extLst>
          </p:nvPr>
        </p:nvGraphicFramePr>
        <p:xfrm>
          <a:off x="654424" y="2952947"/>
          <a:ext cx="10013576" cy="677760"/>
        </p:xfrm>
        <a:graphic>
          <a:graphicData uri="http://schemas.openxmlformats.org/drawingml/2006/table">
            <a:tbl>
              <a:tblPr firstRow="1" bandRow="1">
                <a:tableStyleId>{5C22544A-7EE6-4342-B048-85BDC9FD1C3A}</a:tableStyleId>
              </a:tblPr>
              <a:tblGrid>
                <a:gridCol w="2503394">
                  <a:extLst>
                    <a:ext uri="{9D8B030D-6E8A-4147-A177-3AD203B41FA5}">
                      <a16:colId xmlns:a16="http://schemas.microsoft.com/office/drawing/2014/main" val="306944689"/>
                    </a:ext>
                  </a:extLst>
                </a:gridCol>
                <a:gridCol w="2503394">
                  <a:extLst>
                    <a:ext uri="{9D8B030D-6E8A-4147-A177-3AD203B41FA5}">
                      <a16:colId xmlns:a16="http://schemas.microsoft.com/office/drawing/2014/main" val="791808415"/>
                    </a:ext>
                  </a:extLst>
                </a:gridCol>
                <a:gridCol w="2503394">
                  <a:extLst>
                    <a:ext uri="{9D8B030D-6E8A-4147-A177-3AD203B41FA5}">
                      <a16:colId xmlns:a16="http://schemas.microsoft.com/office/drawing/2014/main" val="1393704108"/>
                    </a:ext>
                  </a:extLst>
                </a:gridCol>
                <a:gridCol w="2503394">
                  <a:extLst>
                    <a:ext uri="{9D8B030D-6E8A-4147-A177-3AD203B41FA5}">
                      <a16:colId xmlns:a16="http://schemas.microsoft.com/office/drawing/2014/main" val="872063260"/>
                    </a:ext>
                  </a:extLst>
                </a:gridCol>
              </a:tblGrid>
              <a:tr h="677760">
                <a:tc>
                  <a:txBody>
                    <a:bodyPr/>
                    <a:lstStyle/>
                    <a:p>
                      <a:r>
                        <a:rPr lang="en-IN" dirty="0"/>
                        <a:t>Total sales</a:t>
                      </a:r>
                    </a:p>
                  </a:txBody>
                  <a:tcPr/>
                </a:tc>
                <a:tc>
                  <a:txBody>
                    <a:bodyPr/>
                    <a:lstStyle/>
                    <a:p>
                      <a:r>
                        <a:rPr lang="en-IN" dirty="0"/>
                        <a:t>Total orders</a:t>
                      </a:r>
                    </a:p>
                  </a:txBody>
                  <a:tcPr/>
                </a:tc>
                <a:tc>
                  <a:txBody>
                    <a:bodyPr/>
                    <a:lstStyle/>
                    <a:p>
                      <a:r>
                        <a:rPr lang="en-IN" dirty="0"/>
                        <a:t>Sales YTD</a:t>
                      </a:r>
                    </a:p>
                  </a:txBody>
                  <a:tcPr/>
                </a:tc>
                <a:tc>
                  <a:txBody>
                    <a:bodyPr/>
                    <a:lstStyle/>
                    <a:p>
                      <a:r>
                        <a:rPr lang="en-IN" dirty="0"/>
                        <a:t>Total profit</a:t>
                      </a:r>
                    </a:p>
                  </a:txBody>
                  <a:tcPr/>
                </a:tc>
                <a:extLst>
                  <a:ext uri="{0D108BD9-81ED-4DB2-BD59-A6C34878D82A}">
                    <a16:rowId xmlns:a16="http://schemas.microsoft.com/office/drawing/2014/main" val="2295672737"/>
                  </a:ext>
                </a:extLst>
              </a:tr>
            </a:tbl>
          </a:graphicData>
        </a:graphic>
      </p:graphicFrame>
      <p:sp>
        <p:nvSpPr>
          <p:cNvPr id="6" name="Rectangle 5">
            <a:extLst>
              <a:ext uri="{FF2B5EF4-FFF2-40B4-BE49-F238E27FC236}">
                <a16:creationId xmlns:a16="http://schemas.microsoft.com/office/drawing/2014/main" id="{46A39308-DD3A-4044-A2A4-F90C2D078158}"/>
              </a:ext>
            </a:extLst>
          </p:cNvPr>
          <p:cNvSpPr/>
          <p:nvPr/>
        </p:nvSpPr>
        <p:spPr>
          <a:xfrm>
            <a:off x="654424" y="1832229"/>
            <a:ext cx="2746188" cy="876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Title of  project</a:t>
            </a:r>
          </a:p>
        </p:txBody>
      </p:sp>
      <p:sp>
        <p:nvSpPr>
          <p:cNvPr id="7" name="Rectangle 6">
            <a:extLst>
              <a:ext uri="{FF2B5EF4-FFF2-40B4-BE49-F238E27FC236}">
                <a16:creationId xmlns:a16="http://schemas.microsoft.com/office/drawing/2014/main" id="{49C9D973-E374-45D1-B21F-12E21EA61E00}"/>
              </a:ext>
            </a:extLst>
          </p:cNvPr>
          <p:cNvSpPr/>
          <p:nvPr/>
        </p:nvSpPr>
        <p:spPr>
          <a:xfrm>
            <a:off x="5257803" y="1861884"/>
            <a:ext cx="1703294" cy="806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4FF79BB-5A20-4D40-BF45-688F9BBC9113}"/>
              </a:ext>
            </a:extLst>
          </p:cNvPr>
          <p:cNvSpPr/>
          <p:nvPr/>
        </p:nvSpPr>
        <p:spPr>
          <a:xfrm>
            <a:off x="3483913" y="1861884"/>
            <a:ext cx="1703294" cy="806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18ED413-73CD-4CCA-A05A-1FFB21CE53F0}"/>
              </a:ext>
            </a:extLst>
          </p:cNvPr>
          <p:cNvSpPr/>
          <p:nvPr/>
        </p:nvSpPr>
        <p:spPr>
          <a:xfrm>
            <a:off x="7120219" y="1861884"/>
            <a:ext cx="1703294" cy="806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6ABC7E1F-E314-4DEB-BB16-3626110F0792}"/>
              </a:ext>
            </a:extLst>
          </p:cNvPr>
          <p:cNvSpPr/>
          <p:nvPr/>
        </p:nvSpPr>
        <p:spPr>
          <a:xfrm>
            <a:off x="8964706" y="1861884"/>
            <a:ext cx="1703294" cy="806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A377BBD9-2F35-4249-A9F1-4FF9AC0501AC}"/>
              </a:ext>
            </a:extLst>
          </p:cNvPr>
          <p:cNvSpPr/>
          <p:nvPr/>
        </p:nvSpPr>
        <p:spPr>
          <a:xfrm>
            <a:off x="654424" y="3874659"/>
            <a:ext cx="5952564" cy="12496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Sales Trend</a:t>
            </a:r>
          </a:p>
        </p:txBody>
      </p:sp>
      <p:sp>
        <p:nvSpPr>
          <p:cNvPr id="14" name="Rectangle 13">
            <a:extLst>
              <a:ext uri="{FF2B5EF4-FFF2-40B4-BE49-F238E27FC236}">
                <a16:creationId xmlns:a16="http://schemas.microsoft.com/office/drawing/2014/main" id="{5B8CCDF3-838F-4C89-A95C-A8D91BD37C7F}"/>
              </a:ext>
            </a:extLst>
          </p:cNvPr>
          <p:cNvSpPr/>
          <p:nvPr/>
        </p:nvSpPr>
        <p:spPr>
          <a:xfrm>
            <a:off x="6844556" y="3874659"/>
            <a:ext cx="3581397" cy="12496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Sales by segment</a:t>
            </a:r>
          </a:p>
        </p:txBody>
      </p:sp>
      <p:sp>
        <p:nvSpPr>
          <p:cNvPr id="15" name="Rectangle 14">
            <a:extLst>
              <a:ext uri="{FF2B5EF4-FFF2-40B4-BE49-F238E27FC236}">
                <a16:creationId xmlns:a16="http://schemas.microsoft.com/office/drawing/2014/main" id="{C059FA93-B6AF-4383-972E-C4178AD07310}"/>
              </a:ext>
            </a:extLst>
          </p:cNvPr>
          <p:cNvSpPr/>
          <p:nvPr/>
        </p:nvSpPr>
        <p:spPr>
          <a:xfrm>
            <a:off x="654424" y="5244353"/>
            <a:ext cx="2738714" cy="1541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Sales by  category</a:t>
            </a:r>
          </a:p>
        </p:txBody>
      </p:sp>
      <p:sp>
        <p:nvSpPr>
          <p:cNvPr id="16" name="Rectangle 15">
            <a:extLst>
              <a:ext uri="{FF2B5EF4-FFF2-40B4-BE49-F238E27FC236}">
                <a16:creationId xmlns:a16="http://schemas.microsoft.com/office/drawing/2014/main" id="{8BE8979E-14E7-4F58-A5A6-A22CCC6B178F}"/>
              </a:ext>
            </a:extLst>
          </p:cNvPr>
          <p:cNvSpPr/>
          <p:nvPr/>
        </p:nvSpPr>
        <p:spPr>
          <a:xfrm>
            <a:off x="3630706" y="5244353"/>
            <a:ext cx="2976282" cy="1541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Sales by Region</a:t>
            </a:r>
          </a:p>
        </p:txBody>
      </p:sp>
      <p:sp>
        <p:nvSpPr>
          <p:cNvPr id="17" name="Rectangle 16">
            <a:extLst>
              <a:ext uri="{FF2B5EF4-FFF2-40B4-BE49-F238E27FC236}">
                <a16:creationId xmlns:a16="http://schemas.microsoft.com/office/drawing/2014/main" id="{BC02A45B-8804-4461-AADD-F211F9111F29}"/>
              </a:ext>
            </a:extLst>
          </p:cNvPr>
          <p:cNvSpPr/>
          <p:nvPr/>
        </p:nvSpPr>
        <p:spPr>
          <a:xfrm>
            <a:off x="6844556" y="5244353"/>
            <a:ext cx="3581397" cy="1541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Total sales</a:t>
            </a:r>
          </a:p>
        </p:txBody>
      </p:sp>
    </p:spTree>
    <p:extLst>
      <p:ext uri="{BB962C8B-B14F-4D97-AF65-F5344CB8AC3E}">
        <p14:creationId xmlns:p14="http://schemas.microsoft.com/office/powerpoint/2010/main" val="2646870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71E5D-0A18-42DD-AFFE-77273718AD49}"/>
              </a:ext>
            </a:extLst>
          </p:cNvPr>
          <p:cNvSpPr>
            <a:spLocks noGrp="1"/>
          </p:cNvSpPr>
          <p:nvPr>
            <p:ph type="title"/>
          </p:nvPr>
        </p:nvSpPr>
        <p:spPr/>
        <p:txBody>
          <a:bodyPr/>
          <a:lstStyle/>
          <a:p>
            <a:pPr algn="ctr"/>
            <a:r>
              <a:rPr lang="en-IN" b="1" u="sng" dirty="0"/>
              <a:t>FINAL DASHBOARD SCREENSHOT</a:t>
            </a:r>
          </a:p>
        </p:txBody>
      </p:sp>
      <p:pic>
        <p:nvPicPr>
          <p:cNvPr id="5" name="Picture 4">
            <a:extLst>
              <a:ext uri="{FF2B5EF4-FFF2-40B4-BE49-F238E27FC236}">
                <a16:creationId xmlns:a16="http://schemas.microsoft.com/office/drawing/2014/main" id="{25F7D21F-3BB9-4A50-91BD-A175F8FC5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4097" y="1690688"/>
            <a:ext cx="8123806" cy="4629560"/>
          </a:xfrm>
          <a:prstGeom prst="rect">
            <a:avLst/>
          </a:prstGeom>
        </p:spPr>
      </p:pic>
    </p:spTree>
    <p:extLst>
      <p:ext uri="{BB962C8B-B14F-4D97-AF65-F5344CB8AC3E}">
        <p14:creationId xmlns:p14="http://schemas.microsoft.com/office/powerpoint/2010/main" val="3318991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2C4B1-05DC-4745-B4C8-C439E4F45C26}"/>
              </a:ext>
            </a:extLst>
          </p:cNvPr>
          <p:cNvSpPr>
            <a:spLocks noGrp="1"/>
          </p:cNvSpPr>
          <p:nvPr>
            <p:ph type="title"/>
          </p:nvPr>
        </p:nvSpPr>
        <p:spPr/>
        <p:txBody>
          <a:bodyPr/>
          <a:lstStyle/>
          <a:p>
            <a:pPr algn="ctr"/>
            <a:r>
              <a:rPr lang="en-IN" b="1" u="sng" dirty="0"/>
              <a:t>INSIGHTS</a:t>
            </a:r>
          </a:p>
        </p:txBody>
      </p:sp>
      <p:sp>
        <p:nvSpPr>
          <p:cNvPr id="4" name="Rectangle 1">
            <a:extLst>
              <a:ext uri="{FF2B5EF4-FFF2-40B4-BE49-F238E27FC236}">
                <a16:creationId xmlns:a16="http://schemas.microsoft.com/office/drawing/2014/main" id="{A3E6CD4E-B3C0-46DA-B65F-73483544748A}"/>
              </a:ext>
            </a:extLst>
          </p:cNvPr>
          <p:cNvSpPr>
            <a:spLocks noGrp="1" noChangeArrowheads="1"/>
          </p:cNvSpPr>
          <p:nvPr>
            <p:ph idx="1"/>
          </p:nvPr>
        </p:nvSpPr>
        <p:spPr bwMode="auto">
          <a:xfrm>
            <a:off x="981635" y="2197893"/>
            <a:ext cx="879885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Monthly sales show upward trend in Q3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Product X generates the highest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Region Y underperforms consistently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Category A contributes 45% of total sales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Profit margin improved compared to last quarter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Top 10 products = 70% of total revenue</a:t>
            </a:r>
          </a:p>
        </p:txBody>
      </p:sp>
    </p:spTree>
    <p:extLst>
      <p:ext uri="{BB962C8B-B14F-4D97-AF65-F5344CB8AC3E}">
        <p14:creationId xmlns:p14="http://schemas.microsoft.com/office/powerpoint/2010/main" val="4052757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51D2D-074F-4069-8C7D-46A7501FEF47}"/>
              </a:ext>
            </a:extLst>
          </p:cNvPr>
          <p:cNvSpPr>
            <a:spLocks noGrp="1"/>
          </p:cNvSpPr>
          <p:nvPr>
            <p:ph type="title"/>
          </p:nvPr>
        </p:nvSpPr>
        <p:spPr/>
        <p:txBody>
          <a:bodyPr/>
          <a:lstStyle/>
          <a:p>
            <a:pPr algn="ctr"/>
            <a:r>
              <a:rPr lang="en-IN" b="1" u="sng" dirty="0"/>
              <a:t>CONCLUSION</a:t>
            </a:r>
          </a:p>
        </p:txBody>
      </p:sp>
      <p:sp>
        <p:nvSpPr>
          <p:cNvPr id="3" name="Content Placeholder 2">
            <a:extLst>
              <a:ext uri="{FF2B5EF4-FFF2-40B4-BE49-F238E27FC236}">
                <a16:creationId xmlns:a16="http://schemas.microsoft.com/office/drawing/2014/main" id="{C0FDA739-3240-4272-A107-4DC3AE79866F}"/>
              </a:ext>
            </a:extLst>
          </p:cNvPr>
          <p:cNvSpPr>
            <a:spLocks noGrp="1"/>
          </p:cNvSpPr>
          <p:nvPr>
            <p:ph idx="1"/>
          </p:nvPr>
        </p:nvSpPr>
        <p:spPr/>
        <p:txBody>
          <a:bodyPr>
            <a:normAutofit/>
          </a:bodyPr>
          <a:lstStyle/>
          <a:p>
            <a:r>
              <a:rPr lang="en-US" sz="4000" dirty="0"/>
              <a:t>“This sales performance analysis identifies key products, regional opportunities, and revenue patterns. The interactive dashboard enables managers to make informed business decisions instantly.”</a:t>
            </a:r>
            <a:endParaRPr lang="en-IN" sz="4000" dirty="0"/>
          </a:p>
        </p:txBody>
      </p:sp>
    </p:spTree>
    <p:extLst>
      <p:ext uri="{BB962C8B-B14F-4D97-AF65-F5344CB8AC3E}">
        <p14:creationId xmlns:p14="http://schemas.microsoft.com/office/powerpoint/2010/main" val="3405066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67</TotalTime>
  <Words>379</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Sales Performance Analysis </vt:lpstr>
      <vt:lpstr>“The objective of this project is to analyze Sales Performance  data, identify key performance metrics, create interactive dashboards, and present insights that help understand product performance, revenue trends, and customer demand.”</vt:lpstr>
      <vt:lpstr>DATASET OVERVIEW</vt:lpstr>
      <vt:lpstr>DATA CLEANING SUMMARY</vt:lpstr>
      <vt:lpstr>KPI SUMMARY</vt:lpstr>
      <vt:lpstr>MONTHLY SALES TREND</vt:lpstr>
      <vt:lpstr>TOP 10 HIGH-PERFORMING PRODUCTS </vt:lpstr>
      <vt:lpstr>SALES BY CATEGORY</vt:lpstr>
      <vt:lpstr>SALES BY REGION</vt:lpstr>
      <vt:lpstr>DASHBOARD BLUEPRINT (POWER BI LAYOUT)</vt:lpstr>
      <vt:lpstr>FINAL DASHBOARD SCREENSHOT</vt:lpstr>
      <vt:lpstr>INSIGHTS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Performance Analysis</dc:title>
  <dc:creator>Arjun Donga</dc:creator>
  <cp:lastModifiedBy>Arjun Donga</cp:lastModifiedBy>
  <cp:revision>10</cp:revision>
  <dcterms:created xsi:type="dcterms:W3CDTF">2025-11-22T04:11:22Z</dcterms:created>
  <dcterms:modified xsi:type="dcterms:W3CDTF">2025-11-22T05:18:48Z</dcterms:modified>
</cp:coreProperties>
</file>